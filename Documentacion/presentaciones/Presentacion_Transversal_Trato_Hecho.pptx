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37HINZwbX5gccMfsJ6xbZO9we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7DB0C-687D-498C-888D-113C3A52B259}">
  <a:tblStyle styleId="{8EC7DB0C-687D-498C-888D-113C3A52B2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6000"/>
              <a:buFont typeface="Montserra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6000"/>
              <a:buFont typeface="Montserra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7797E"/>
              </a:buClr>
              <a:buSzPts val="2400"/>
              <a:buNone/>
              <a:defRPr sz="2400">
                <a:solidFill>
                  <a:srgbClr val="77797E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7797E"/>
              </a:buClr>
              <a:buSzPts val="2000"/>
              <a:buNone/>
              <a:defRPr sz="2000">
                <a:solidFill>
                  <a:srgbClr val="77797E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7797E"/>
              </a:buClr>
              <a:buSzPts val="1800"/>
              <a:buNone/>
              <a:defRPr sz="1800">
                <a:solidFill>
                  <a:srgbClr val="77797E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7797E"/>
              </a:buClr>
              <a:buSzPts val="1600"/>
              <a:buNone/>
              <a:defRPr sz="1600">
                <a:solidFill>
                  <a:srgbClr val="77797E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7797E"/>
              </a:buClr>
              <a:buSzPts val="1600"/>
              <a:buNone/>
              <a:defRPr sz="1600">
                <a:solidFill>
                  <a:srgbClr val="77797E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7797E"/>
              </a:buClr>
              <a:buSzPts val="1600"/>
              <a:buNone/>
              <a:defRPr sz="1600">
                <a:solidFill>
                  <a:srgbClr val="77797E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7797E"/>
              </a:buClr>
              <a:buSzPts val="1600"/>
              <a:buNone/>
              <a:defRPr sz="1600">
                <a:solidFill>
                  <a:srgbClr val="77797E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7797E"/>
              </a:buClr>
              <a:buSzPts val="1600"/>
              <a:buNone/>
              <a:defRPr sz="1600">
                <a:solidFill>
                  <a:srgbClr val="77797E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7797E"/>
              </a:buClr>
              <a:buSzPts val="1600"/>
              <a:buNone/>
              <a:defRPr sz="1600">
                <a:solidFill>
                  <a:srgbClr val="77797E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7797E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5" name="Google Shape;15;p19"/>
          <p:cNvSpPr/>
          <p:nvPr/>
        </p:nvSpPr>
        <p:spPr>
          <a:xfrm>
            <a:off x="0" y="6400800"/>
            <a:ext cx="9144000" cy="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Google Shape;16;p19"/>
          <p:cNvSpPr/>
          <p:nvPr/>
        </p:nvSpPr>
        <p:spPr>
          <a:xfrm>
            <a:off x="0" y="0"/>
            <a:ext cx="9144000" cy="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1" name="Google Shape;91;p1" descr="/home/claude/check_layout/x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2000" y="382200"/>
            <a:ext cx="3583825" cy="131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731520" y="1889760"/>
            <a:ext cx="107289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2133"/>
              <a:buFont typeface="Calibri"/>
              <a:buNone/>
            </a:pPr>
            <a:r>
              <a:rPr lang="en-US" sz="21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Presentación Final Portafolio de Título</a:t>
            </a:r>
            <a:endParaRPr sz="21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731520" y="2499360"/>
            <a:ext cx="107289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333"/>
              <a:buFont typeface="Calibri"/>
              <a:buNone/>
            </a:pPr>
            <a:r>
              <a:rPr lang="en-US" sz="53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Proyecto Trato Hecho</a:t>
            </a:r>
            <a:endParaRPr sz="5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31520" y="3718560"/>
            <a:ext cx="1706880" cy="60960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731520" y="4084320"/>
            <a:ext cx="107289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33"/>
              <a:buFont typeface="Calibri"/>
              <a:buNone/>
            </a:pPr>
            <a:r>
              <a:rPr lang="en-US" sz="17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Integrantes:  </a:t>
            </a:r>
            <a:r>
              <a:rPr lang="en-US" sz="1733" b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Gonzalo Carvajal Cerda</a:t>
            </a:r>
            <a:r>
              <a:rPr lang="en-US" sz="17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1733" b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Cristofer San Martín · Andres Romero Madrid</a:t>
            </a:r>
            <a:endParaRPr sz="1733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731520" y="4572000"/>
            <a:ext cx="1072896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Asignatura:  </a:t>
            </a:r>
            <a:r>
              <a:rPr lang="en-US" sz="1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Taller Aplicado de Programación (TPY1101)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96810" y="5947100"/>
            <a:ext cx="4876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11-07-2026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3" name="Google Shape;103;p2" descr="/home/claude/check_layout/x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31520" y="6705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731520" y="1889760"/>
            <a:ext cx="107289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036320" y="2194560"/>
            <a:ext cx="670560" cy="670560"/>
          </a:xfrm>
          <a:prstGeom prst="ellipse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036320" y="2194560"/>
            <a:ext cx="670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2011680" y="1889760"/>
            <a:ext cx="920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Problema y Solución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Cliente, oportunidad, objetivos, alcance y planificación del proyecto.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731520" y="3389376"/>
            <a:ext cx="107289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036320" y="3694176"/>
            <a:ext cx="670560" cy="670560"/>
          </a:xfrm>
          <a:prstGeom prst="ellipse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036320" y="3694176"/>
            <a:ext cx="670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2011680" y="3389376"/>
            <a:ext cx="920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Stack Tecnológico y Seguridad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Arquitectura, evolución del agente de IA, auditoría de seguridad y ambiente de pruebas.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731520" y="4888992"/>
            <a:ext cx="107289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036320" y="5193792"/>
            <a:ext cx="670560" cy="670560"/>
          </a:xfrm>
          <a:prstGeom prst="ellipse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036320" y="5193792"/>
            <a:ext cx="670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2011680" y="4888992"/>
            <a:ext cx="920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Pruebas y Métricas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Plan de pruebas, validación funcional, mejoras aplicadas y resultados.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3" name="Google Shape;123;p3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1 · PROBLEMA Y SOLUCIÓN · 1 DE 4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Cliente o Mercado Objetivo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6" name="Google Shape;126;p3" descr="/home/claude/v1_extract/ppt/media/image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271410"/>
            <a:ext cx="10972800" cy="46520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731520" y="5914521"/>
            <a:ext cx="1072896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Césped Sintético SpA (PYME unipersonal, Melipilla) pierde ventas por no responder cotizaciones a tiempo; sus clientes finales, por su parte, no saben calcular el metraje que necesitan.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Google Shape;133;p4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1 · PROBLEMA Y SOLUCIÓN · 2 DE 4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Objetivos y Alcance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09600" y="1524000"/>
            <a:ext cx="10972800" cy="1402080"/>
          </a:xfrm>
          <a:prstGeom prst="roundRect">
            <a:avLst>
              <a:gd name="adj" fmla="val 5217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14400" y="1645920"/>
            <a:ext cx="10363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66"/>
              <a:buFont typeface="Calibri"/>
              <a:buNone/>
            </a:pPr>
            <a:r>
              <a:rPr lang="en-US" sz="16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br>
              <a:rPr lang="en-US" sz="16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Desarrollar una página web con agente conversacional inteligente que digitalice el proceso comercial completo: cálculo de metraje, cotización automática, cobro con MercadoPago y notificación instantánea al negocio.</a:t>
            </a:r>
            <a:endParaRPr sz="16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09600" y="3230880"/>
            <a:ext cx="1072896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31520" y="3779520"/>
            <a:ext cx="146304" cy="146304"/>
          </a:xfrm>
          <a:prstGeom prst="ellipse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097280" y="3737146"/>
            <a:ext cx="1024128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Desarrollar un agente conversacional con Claude Sonnet capaz de razonar, calcular y generar cotizaciones únicas, persistidas por 10 días.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31520" y="4535424"/>
            <a:ext cx="146304" cy="146304"/>
          </a:xfrm>
          <a:prstGeom prst="ellipse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097280" y="4523030"/>
            <a:ext cx="1024128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Integrar MercadoPago para generar un link de pago dinámico dentro de la conversación, sin intervención manual.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09600" y="5388864"/>
            <a:ext cx="1072896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09600" y="5827776"/>
            <a:ext cx="108508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web que lleva al cliente desde la consulta hasta el pago de forma automática. El negocio es notificado al recibir una cotización y al concretarse el pago, sin revisar correo manualmente.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0" name="Google Shape;150;p5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1 · PROBLEMA Y SOLUCIÓN · 3 DE 4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Planificación y Metodología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09600" y="1402080"/>
            <a:ext cx="6766560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El proyecto se planificó de forma secuencial: análisis del negocio, diseño de la solución, configuración de infraestructura, desarrollo backend/frontend, pruebas, despliegue y entrega.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09600" y="2499360"/>
            <a:ext cx="6766560" cy="3108960"/>
          </a:xfrm>
          <a:prstGeom prst="roundRect">
            <a:avLst>
              <a:gd name="adj" fmla="val 2353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14400" y="2682240"/>
            <a:ext cx="615696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33"/>
              <a:buFont typeface="Calibri"/>
              <a:buNone/>
            </a:pPr>
            <a:r>
              <a:rPr lang="en-US" sz="17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Metodología SCRUM</a:t>
            </a:r>
            <a:endParaRPr sz="17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914400" y="3169920"/>
            <a:ext cx="61569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Iteraciones cortas, validación continua de avances y adaptación a cambios en los requerimientos — clave para integrar progresivamente interfaz, automatización, agente de IA y pagos.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914400" y="4450080"/>
            <a:ext cx="615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Calibri"/>
              <a:buNone/>
            </a:pPr>
            <a:r>
              <a:rPr lang="en-US" sz="13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Gonzalo Carvajal  </a:t>
            </a: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914400" y="4840224"/>
            <a:ext cx="615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Calibri"/>
              <a:buNone/>
            </a:pPr>
            <a:r>
              <a:rPr lang="en-US" sz="13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Cristofer San Martín  </a:t>
            </a: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914400" y="5230368"/>
            <a:ext cx="615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Calibri"/>
              <a:buNone/>
            </a:pPr>
            <a:r>
              <a:rPr lang="en-US" sz="13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Andrés Romero  </a:t>
            </a: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Product Owner &amp; Developer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0" name="Google Shape;160;p5" descr="/home/claude/v1_extract/ppt/media/image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4959" y="1078334"/>
            <a:ext cx="3242641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8217838" y="6400800"/>
            <a:ext cx="373032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Carta Gantt — Trato Hecho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7" name="Google Shape;167;p6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1 · PROBLEMA Y SOLUCIÓN · 4 DE 4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Arquitectura en Capas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09600" y="1463040"/>
            <a:ext cx="1097280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533"/>
              <a:buFont typeface="Calibri"/>
              <a:buNone/>
            </a:pPr>
            <a:r>
              <a:rPr lang="en-US" sz="15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Cada nivel cumple una función distinta para que el sistema funcione como un todo:</a:t>
            </a:r>
            <a:endParaRPr sz="1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09600" y="2133600"/>
            <a:ext cx="10972800" cy="877824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14400" y="2133600"/>
            <a:ext cx="103632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66"/>
              <a:buFont typeface="Calibri"/>
              <a:buNone/>
            </a:pPr>
            <a:r>
              <a:rPr lang="en-US" sz="1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Capa 1 — Datos  —  </a:t>
            </a:r>
            <a:r>
              <a:rPr lang="en-US" sz="14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Persiste cotizaciones, ventas e historial.</a:t>
            </a:r>
            <a:endParaRPr sz="1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09600" y="3108960"/>
            <a:ext cx="10972800" cy="877824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914400" y="3108960"/>
            <a:ext cx="103632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66"/>
              <a:buFont typeface="Calibri"/>
              <a:buNone/>
            </a:pPr>
            <a:r>
              <a:rPr lang="en-US" sz="1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Capa 2 — Servicios  —  </a:t>
            </a:r>
            <a:r>
              <a:rPr lang="en-US" sz="14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Conecta con IA (Claude) y pagos (MercadoPago).</a:t>
            </a:r>
            <a:endParaRPr sz="1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09600" y="4084320"/>
            <a:ext cx="10972800" cy="877824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14400" y="4084320"/>
            <a:ext cx="103632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66"/>
              <a:buFont typeface="Calibri"/>
              <a:buNone/>
            </a:pPr>
            <a:r>
              <a:rPr lang="en-US" sz="1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Capa 3 — Orquestación  —  </a:t>
            </a:r>
            <a:r>
              <a:rPr lang="en-US" sz="14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Organiza el flujo completo (n8n).</a:t>
            </a:r>
            <a:endParaRPr sz="1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09600" y="5059680"/>
            <a:ext cx="10972800" cy="877824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14400" y="5059680"/>
            <a:ext cx="103632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66"/>
              <a:buFont typeface="Calibri"/>
              <a:buNone/>
            </a:pPr>
            <a:r>
              <a:rPr lang="en-US" sz="1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Capa 4 — Interfaz  —  </a:t>
            </a:r>
            <a:r>
              <a:rPr lang="en-US" sz="14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La experiencia que usa el cliente final (React).</a:t>
            </a:r>
            <a:endParaRPr sz="1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09600" y="6368820"/>
            <a:ext cx="10972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sz="1333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Esta vista conceptual se detalla técnicamente en la Parte 2, con el stack real utilizado en cada capa.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7" descr="Certifika 2026 – Duoc U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3488" y="139283"/>
            <a:ext cx="1993691" cy="73084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 txBox="1"/>
          <p:nvPr/>
        </p:nvSpPr>
        <p:spPr>
          <a:xfrm>
            <a:off x="1229186" y="-15698"/>
            <a:ext cx="848443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 Tecnológico</a:t>
            </a:r>
            <a:endParaRPr sz="6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7" descr="File:N8n-logo-new.svg - Wikimedia Comm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0932" y="1044391"/>
            <a:ext cx="2396623" cy="95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 descr="Claude Sonnet 4.5: El modelo más inteligente de Anthropic para la codificación y los agentes complejo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05" y="2722396"/>
            <a:ext cx="1364561" cy="766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 descr="Mercado Pago: cuenta digital - Apps en Google Play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6759" y="3824769"/>
            <a:ext cx="1323439" cy="1323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7" descr="Imágenes de Telegram logo - Descarga gratuita en Magnific ..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46660" y="4064101"/>
            <a:ext cx="1097233" cy="90216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 txBox="1"/>
          <p:nvPr/>
        </p:nvSpPr>
        <p:spPr>
          <a:xfrm>
            <a:off x="2113616" y="1265168"/>
            <a:ext cx="3276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Interfaz de chat donde el cliente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cotiza y paga, en el navegador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8864202" y="1054403"/>
            <a:ext cx="254396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Orquesta todo el flujo: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recibe el mensaje,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llama al agente,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ejecuta las herramientas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y notifica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2193035" y="2628138"/>
            <a:ext cx="3477812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agente conversacional —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entiende al cliente y decide cuándo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calcular, guardar, cobrar o buscar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una cotización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8796177" y="2700017"/>
            <a:ext cx="254396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Base de datos (PostgreSQL)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donde se guardan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cotizaciones, ventas e historial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2133875" y="4134793"/>
            <a:ext cx="36480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 el link de pago real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cuando el cliente confirma la compra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8709289" y="4152292"/>
            <a:ext cx="2543966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Notifica al dueño del negocio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al instante cuando hay una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cotización o venta nueva</a:t>
            </a:r>
            <a:endParaRPr/>
          </a:p>
        </p:txBody>
      </p:sp>
      <p:pic>
        <p:nvPicPr>
          <p:cNvPr id="196" name="Google Shape;196;p7" descr="What Is React &amp; How Does It Actually Work? ReactJS is one of the most popular JavaScript libraries for mobile and web application development. Created by Facebook, React contains a collection of… -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0420" y="945095"/>
            <a:ext cx="1757794" cy="1157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 descr="GitHub - Ashishkumbhar01/supabase-php: Supabase client for PHP. Supabase for php. · GitHub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0932" y="2626272"/>
            <a:ext cx="2008691" cy="1116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7" descr="Gmail: La fascinante evolución del gigante del correo electrónico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9070" y="5331783"/>
            <a:ext cx="1192428" cy="6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 txBox="1"/>
          <p:nvPr/>
        </p:nvSpPr>
        <p:spPr>
          <a:xfrm>
            <a:off x="2113618" y="5261547"/>
            <a:ext cx="346761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Notifica al dueño y al cliente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Cuando se crea una nueva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Cotización y venta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9391" y="2591367"/>
            <a:ext cx="9965960" cy="404969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/>
        </p:nvSpPr>
        <p:spPr>
          <a:xfrm>
            <a:off x="597310" y="801555"/>
            <a:ext cx="110617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Chat de webhook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— Punto de entrada — recibe el mensaje del cliente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Agente de IA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— Cerebro del sistema — decide qué hacer con cada mensaje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Memoria de búfer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— Recuerda el contexto de la conversación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Herramientas (4)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— calcular_precio · guardar_cotización · generar_pago · buscar_cotización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¿Es Cotización? / ¿Es Pago?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— Filtros que activan la notificación correcta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Telegram / Gmail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— Avisan al negocio al instante</a:t>
            </a:r>
            <a:endParaRPr/>
          </a:p>
        </p:txBody>
      </p:sp>
      <p:pic>
        <p:nvPicPr>
          <p:cNvPr id="206" name="Google Shape;206;p8" descr="Certifika 2026 – Duoc UC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1666" y="0"/>
            <a:ext cx="1905467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2188560" y="49450"/>
            <a:ext cx="28857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Flujo LLM 🤖</a:t>
            </a:r>
            <a:endParaRPr sz="3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/>
        </p:nvSpPr>
        <p:spPr>
          <a:xfrm>
            <a:off x="1858781" y="74957"/>
            <a:ext cx="494750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Auditoría de Seguridad</a:t>
            </a:r>
            <a:endParaRPr/>
          </a:p>
        </p:txBody>
      </p:sp>
      <p:graphicFrame>
        <p:nvGraphicFramePr>
          <p:cNvPr id="213" name="Google Shape;213;p9"/>
          <p:cNvGraphicFramePr/>
          <p:nvPr/>
        </p:nvGraphicFramePr>
        <p:xfrm>
          <a:off x="869429" y="919321"/>
          <a:ext cx="10972800" cy="3200450"/>
        </p:xfrm>
        <a:graphic>
          <a:graphicData uri="http://schemas.openxmlformats.org/drawingml/2006/table">
            <a:tbl>
              <a:tblPr>
                <a:noFill/>
                <a:tableStyleId>{8EC7DB0C-687D-498C-888D-113C3A52B259}</a:tableStyleId>
              </a:tblPr>
              <a:tblGrid>
                <a:gridCol w="46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#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b="1" u="none" strike="noStrike" cap="none"/>
                        <a:t>Vulnerabilidad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b="1" u="none" strike="noStrike" cap="none"/>
                        <a:t>Severidad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b="1" u="none" strike="noStrike" cap="none"/>
                        <a:t>Estado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Secretos hardcodeados en 10 archivos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Crítica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Corregido : Migración  de credenciales a variables  (.env)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Manipulación de precio vía prompt injection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Crítica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Corregido : El monto siempre sale de la base de datos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IDOR en consulta de cotizaciones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Alta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Corregido : El query pasó de validar solo el número de cotización, a validar número + sesión del cliente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Sin Row Level Security (RLS) en Supabase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Alta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None/>
                      </a:pPr>
                      <a:r>
                        <a:rPr lang="en-US" sz="1800" u="none" strike="noStrike" cap="none"/>
                        <a:t>Corregido : Activamos Row Level en las tablas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4" name="Google Shape;214;p9" descr="Certifika 2026 – Duoc U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1705" y="74957"/>
            <a:ext cx="1905467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68825" y="5270337"/>
            <a:ext cx="2615320" cy="804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8132" y="4821569"/>
            <a:ext cx="1626802" cy="1253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855" y="4988645"/>
            <a:ext cx="3704423" cy="108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2717" y="4544289"/>
            <a:ext cx="3354976" cy="180763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 txBox="1"/>
          <p:nvPr/>
        </p:nvSpPr>
        <p:spPr>
          <a:xfrm>
            <a:off x="1828798" y="4865110"/>
            <a:ext cx="17558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detect-secrets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 txBox="1"/>
          <p:nvPr/>
        </p:nvSpPr>
        <p:spPr>
          <a:xfrm>
            <a:off x="1858781" y="74957"/>
            <a:ext cx="54080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Insfraectructura Cloud</a:t>
            </a:r>
            <a:endParaRPr/>
          </a:p>
        </p:txBody>
      </p:sp>
      <p:pic>
        <p:nvPicPr>
          <p:cNvPr id="225" name="Google Shape;225;p10" descr="Certifika 2026 – Duoc U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1705" y="74957"/>
            <a:ext cx="1905467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838378"/>
            <a:ext cx="4639020" cy="518124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 txBox="1"/>
          <p:nvPr/>
        </p:nvSpPr>
        <p:spPr>
          <a:xfrm>
            <a:off x="494678" y="1244186"/>
            <a:ext cx="4639021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Red: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Una VPC dividida en una subnet pública conectada a Internet y una subnet privada totalmente aislada del exterior.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Cómputo: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Una instancia EC2 en la zona privada que sale a Internet de forma segura a través de un NAT Gateway.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Conectividad: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Un túnel de Ngrok que expone la aplicación al exterior de forma controlada sin abrir puertos públicos.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Seguridad: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Un Security Group que actúa como firewall filtrando estrictamente el tráfico bajo el principio de menor privilegio.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3" name="Google Shape;233;p11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1103" y="219456"/>
            <a:ext cx="2103120" cy="77095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/>
          <p:nvPr/>
        </p:nvSpPr>
        <p:spPr>
          <a:xfrm>
            <a:off x="59436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2 · STACK TECNOLÓGICO Y SEGURIDAD</a:t>
            </a:r>
            <a:endParaRPr sz="10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94360" y="56692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Calibri"/>
              <a:buNone/>
            </a:pPr>
            <a:r>
              <a:rPr lang="en-US" sz="27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Justificación Tecnológica y Atributos de Calidad</a:t>
            </a: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94360" y="1371600"/>
            <a:ext cx="5532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¿Por qué esta arquitectura Cloud?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94360" y="182880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DED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94360" y="18288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DISEÑO INICIAL</a:t>
            </a:r>
            <a:endParaRPr sz="8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Railway + Vercel</a:t>
            </a:r>
            <a:endParaRPr sz="8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971800" y="182880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5FD8"/>
              </a:buClr>
              <a:buSzPts val="2200"/>
              <a:buFont typeface="Open Sans"/>
              <a:buNone/>
            </a:pPr>
            <a:r>
              <a:rPr lang="en-US" sz="2200" b="1">
                <a:solidFill>
                  <a:srgbClr val="1F5FD8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474720" y="182880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3474720" y="182880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DESPLIEGUE FINAL</a:t>
            </a:r>
            <a:endParaRPr sz="8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AWS EC2</a:t>
            </a:r>
            <a:endParaRPr sz="8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Calibri"/>
              <a:buNone/>
            </a:pPr>
            <a:r>
              <a:rPr lang="en-US" sz="85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cuenta académica</a:t>
            </a:r>
            <a:endParaRPr sz="8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94360" y="2926080"/>
            <a:ext cx="54864" cy="566928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822960" y="2880360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Arquitectura híbrida intencional</a:t>
            </a:r>
            <a:b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Cómputo propio en AWS EC2 (frontend + n8n) + persistencia gestionada en Supabase, externa a AWS.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94360" y="3657600"/>
            <a:ext cx="54864" cy="566928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822960" y="3611880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Factibilidad para el equipo</a:t>
            </a:r>
            <a:b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Sin RDS propio que mantener: Supabase da PostgreSQL + API REST lista, ideal para 3 personas sin presupuesto.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94360" y="4389120"/>
            <a:ext cx="54864" cy="566928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22960" y="4343400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Control de infraestructura</a:t>
            </a:r>
            <a:b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AWS Academy da control total del entorno, coherente con la formación cloud del resto de la carrera.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400800" y="1371600"/>
            <a:ext cx="18288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Atributos de calidad de la solución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675120" y="1828800"/>
            <a:ext cx="5029200" cy="804672"/>
          </a:xfrm>
          <a:prstGeom prst="roundRect">
            <a:avLst>
              <a:gd name="adj" fmla="val 5682"/>
            </a:avLst>
          </a:prstGeom>
          <a:solidFill>
            <a:srgbClr val="F3F6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903720" y="1828800"/>
            <a:ext cx="4572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Integridad  </a:t>
            </a: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El monto de un pago siempre se valida contra Supabase antes de cobrar — los datos no se corrompen a mitad de camino.</a:t>
            </a:r>
            <a:endParaRPr sz="11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675120" y="2724912"/>
            <a:ext cx="50292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903720" y="2724912"/>
            <a:ext cx="4572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Confiabilidad  </a:t>
            </a: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Notificación redundante: Telegram como canal principal, Gmail como respaldo. Entorno reproducible vía Docker.</a:t>
            </a:r>
            <a:endParaRPr sz="11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675120" y="3621024"/>
            <a:ext cx="5029200" cy="804672"/>
          </a:xfrm>
          <a:prstGeom prst="roundRect">
            <a:avLst>
              <a:gd name="adj" fmla="val 5682"/>
            </a:avLst>
          </a:prstGeom>
          <a:solidFill>
            <a:srgbClr val="F3F6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6903720" y="3621024"/>
            <a:ext cx="4572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Precisión  </a:t>
            </a: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El cálculo de precio lo ejecuta una tool determinística (calcular_precio), no el modelo generando texto libre.</a:t>
            </a:r>
            <a:endParaRPr sz="11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675120" y="4517136"/>
            <a:ext cx="50292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903720" y="4517136"/>
            <a:ext cx="4572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Oportunidad  </a:t>
            </a: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 2-4 días de demora a notificación instantánea — el problema central que resuelve el proyecto.</a:t>
            </a:r>
            <a:endParaRPr sz="11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675120" y="5413248"/>
            <a:ext cx="5029200" cy="804672"/>
          </a:xfrm>
          <a:prstGeom prst="roundRect">
            <a:avLst>
              <a:gd name="adj" fmla="val 5682"/>
            </a:avLst>
          </a:prstGeom>
          <a:solidFill>
            <a:srgbClr val="F3F6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903720" y="5413248"/>
            <a:ext cx="4572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Seguridad  </a:t>
            </a: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 vulnerabilidades auditadas y corregidas: secretos en variables de entorno, RLS activo, validación de montos.</a:t>
            </a:r>
            <a:endParaRPr sz="11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5" name="Google Shape;265;p12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3 · PRUEBAS Y MÉTRICAS · 1 DE 4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 de Pruebas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09600" y="158496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975360" y="1767840"/>
            <a:ext cx="10241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Estrategia de pruebas utilizada</a:t>
            </a:r>
            <a:b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66"/>
              <a:buFont typeface="Calibri"/>
              <a:buNone/>
            </a:pPr>
            <a:r>
              <a:rPr lang="en-US" sz="14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Plan de pruebas alineado a la problemática del proyecto: se detectan errores en el nivel más bajo posible, donde son más rápidos y económicos de corregir.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09600" y="3913632"/>
            <a:ext cx="73152" cy="67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914400" y="3840480"/>
            <a:ext cx="10485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3"/>
              <a:buFont typeface="Calibri"/>
              <a:buNone/>
            </a:pPr>
            <a:r>
              <a:rPr lang="en-US" sz="15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Unitarias  </a:t>
            </a: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Funciones aisladas (cálculo de precio, validaciones)</a:t>
            </a:r>
            <a:endParaRPr sz="1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09600" y="4742688"/>
            <a:ext cx="73152" cy="67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914400" y="4669536"/>
            <a:ext cx="10485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3"/>
              <a:buFont typeface="Calibri"/>
              <a:buNone/>
            </a:pPr>
            <a:r>
              <a:rPr lang="en-US" sz="15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Integración  </a:t>
            </a: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Comunicación entre servicios (n8n &lt;-&gt; Supabase &lt;-&gt; MercadoPago)</a:t>
            </a:r>
            <a:endParaRPr sz="1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09600" y="5571744"/>
            <a:ext cx="73152" cy="67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914400" y="5498592"/>
            <a:ext cx="10485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3"/>
              <a:buFont typeface="Calibri"/>
              <a:buNone/>
            </a:pPr>
            <a:r>
              <a:rPr lang="en-US" sz="15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Funcionales  </a:t>
            </a: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Flujo completo end-to-end, desde el chat hasta el pago</a:t>
            </a:r>
            <a:endParaRPr sz="1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1" name="Google Shape;281;p13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3 · PRUEBAS Y MÉTRICAS · EJECUCIÓN INICIAL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Primera Ejecución de Pruebas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609600" y="158496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975360" y="1767840"/>
            <a:ext cx="10241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Resultados de la primera corrida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66"/>
              <a:buFont typeface="Calibri"/>
              <a:buNone/>
            </a:pPr>
            <a:r>
              <a:rPr lang="en-US" sz="14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La primera ejecución automatizada de la suite Jest (139 pruebas) detectó 14 fallos (125 aprobadas) en distintos módulos del sistema, antes de aplicar las correcciones correspondientes.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09600" y="3913632"/>
            <a:ext cx="73152" cy="67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914400" y="3840480"/>
            <a:ext cx="10485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3"/>
              <a:buFont typeface="Calibri"/>
              <a:buNone/>
            </a:pPr>
            <a:r>
              <a:rPr lang="en-US" sz="15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Cálculo y lógica  </a:t>
            </a: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 fallos en pruebas unitarias de cálculo de precios y lógica del chatbot</a:t>
            </a:r>
            <a:endParaRPr sz="1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09600" y="4742688"/>
            <a:ext cx="73152" cy="67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914400" y="4669536"/>
            <a:ext cx="10485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3"/>
              <a:buFont typeface="Calibri"/>
              <a:buNone/>
            </a:pPr>
            <a:r>
              <a:rPr lang="en-US" sz="15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Configuración  </a:t>
            </a: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 fallos por inconsistencias en variables de entorno y archivos requeridos</a:t>
            </a:r>
            <a:endParaRPr sz="1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09600" y="5571744"/>
            <a:ext cx="73152" cy="67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914400" y="5498592"/>
            <a:ext cx="10485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3"/>
              <a:buFont typeface="Calibri"/>
              <a:buNone/>
            </a:pPr>
            <a:r>
              <a:rPr lang="en-US" sz="1533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Integración y seguridad  </a:t>
            </a: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 fallos en la comunicación con el webhook y en validaciones de seguridad</a:t>
            </a:r>
            <a:endParaRPr sz="1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7" name="Google Shape;297;p14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3 · PRUEBAS Y MÉTRICAS · CORRECCIÓN FINAL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Corrección y Cumplimiento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755904" y="1645920"/>
            <a:ext cx="3425952" cy="201168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09600" y="1828800"/>
            <a:ext cx="3572256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533"/>
              <a:buFont typeface="Calibri"/>
              <a:buNone/>
            </a:pPr>
            <a:r>
              <a:rPr lang="en-US" sz="4533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139</a:t>
            </a:r>
            <a:endParaRPr sz="4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792480" y="2865120"/>
            <a:ext cx="3206496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ejecutadas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(suite Jest)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511040" y="1645920"/>
            <a:ext cx="3389376" cy="201168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328160" y="1828800"/>
            <a:ext cx="3572256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19 → 0</a:t>
            </a:r>
            <a:endParaRPr sz="2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11040" y="2865120"/>
            <a:ext cx="3206496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fallos</a:t>
            </a: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(antes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corregir</a:t>
            </a: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8229600" y="1645920"/>
            <a:ext cx="3389376" cy="201168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8046720" y="1828800"/>
            <a:ext cx="3572256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86% → 100%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8229600" y="2865120"/>
            <a:ext cx="3206496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éxito</a:t>
            </a: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final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la suite Jest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609600" y="3810001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L" sz="16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La evaluación RAGAS manual sobre 40 conversaciones simuladas —incluyendo flujos </a:t>
            </a:r>
            <a:r>
              <a:rPr lang="es-CL" sz="16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r>
              <a:rPr lang="es-CL" sz="16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completos de cotización</a:t>
            </a:r>
          </a:p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L" sz="16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confirmó:</a:t>
            </a:r>
          </a:p>
        </p:txBody>
      </p:sp>
      <p:sp>
        <p:nvSpPr>
          <p:cNvPr id="9001" name="RAGAS Card 9001"/>
          <p:cNvSpPr/>
          <p:nvPr/>
        </p:nvSpPr>
        <p:spPr>
          <a:xfrm>
            <a:off x="755904" y="4497072"/>
            <a:ext cx="3425952" cy="1751328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137160" tIns="137160" rIns="13716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40/40</a:t>
            </a:r>
          </a:p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s-CL" b="1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r>
              <a:rPr lang="es-CL" b="1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(Fidelidad)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 inventa ni modifica precios, m² ni datos del catálogo.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02" name="RAGAS Card 9002"/>
          <p:cNvSpPr/>
          <p:nvPr/>
        </p:nvSpPr>
        <p:spPr>
          <a:xfrm>
            <a:off x="4474464" y="4497072"/>
            <a:ext cx="3425952" cy="1751328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137160" tIns="137160" rIns="13716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40/40</a:t>
            </a:r>
          </a:p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s-CL" b="1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r>
              <a:rPr lang="es-CL" b="1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b="1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Relevancy</a:t>
            </a:r>
            <a:r>
              <a:rPr lang="es-CL" b="1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(Contexto)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Conserva metraje, producto e instalación durante toda la conversación.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03" name="RAGAS Card 9003"/>
          <p:cNvSpPr/>
          <p:nvPr/>
        </p:nvSpPr>
        <p:spPr>
          <a:xfrm>
            <a:off x="8193024" y="4497072"/>
            <a:ext cx="3425952" cy="1751328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137160" tIns="137160" rIns="13716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39→40</a:t>
            </a:r>
          </a:p>
          <a:p>
            <a:pPr marL="0" marR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s-CL" b="1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r>
              <a:rPr lang="es-CL" b="1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b="1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Relevancy</a:t>
            </a:r>
            <a:r>
              <a:rPr lang="es-CL" b="1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(Respuesta)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Responde directo, sin desviarse del negocio. 1 caso corregido .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5" name="Google Shape;315;p15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3 · PRUEBAS Y MÉTRICAS · EJECUCIÓN INICIAL — EVIDENCIA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Evidencia: Primera Ejecución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8" name="Google Shape;31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076" y="1500000"/>
            <a:ext cx="1565148" cy="2080000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9" name="Google Shape;319;p15"/>
          <p:cNvSpPr/>
          <p:nvPr/>
        </p:nvSpPr>
        <p:spPr>
          <a:xfrm>
            <a:off x="457200" y="36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Unitarias — priceCalc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0" name="Google Shape;320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90233" y="1500000"/>
            <a:ext cx="1354634" cy="2080000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1" name="Google Shape;321;p15"/>
          <p:cNvSpPr/>
          <p:nvPr/>
        </p:nvSpPr>
        <p:spPr>
          <a:xfrm>
            <a:off x="3314100" y="36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Unitarias — chatbotLogic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2" name="Google Shape;322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4228" y="1500000"/>
            <a:ext cx="2640444" cy="2080000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3" name="Google Shape;323;p15"/>
          <p:cNvSpPr/>
          <p:nvPr/>
        </p:nvSpPr>
        <p:spPr>
          <a:xfrm>
            <a:off x="6171000" y="36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Unitarias — config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4" name="Google Shape;324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28858" y="1500000"/>
            <a:ext cx="2504983" cy="2080000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5" name="Google Shape;325;p15"/>
          <p:cNvSpPr/>
          <p:nvPr/>
        </p:nvSpPr>
        <p:spPr>
          <a:xfrm>
            <a:off x="9027900" y="36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6" name="Google Shape;326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" y="4347206"/>
            <a:ext cx="2706900" cy="1785588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7" name="Google Shape;327;p15"/>
          <p:cNvSpPr/>
          <p:nvPr/>
        </p:nvSpPr>
        <p:spPr>
          <a:xfrm>
            <a:off x="457200" y="622657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8" name="Google Shape;328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14100" y="4516416"/>
            <a:ext cx="2706900" cy="1447167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9" name="Google Shape;329;p15"/>
          <p:cNvSpPr/>
          <p:nvPr/>
        </p:nvSpPr>
        <p:spPr>
          <a:xfrm>
            <a:off x="3314100" y="6034093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Integración — webhook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0" name="Google Shape;330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71000" y="4601880"/>
            <a:ext cx="2706900" cy="1276239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1" name="Google Shape;331;p15"/>
          <p:cNvSpPr/>
          <p:nvPr/>
        </p:nvSpPr>
        <p:spPr>
          <a:xfrm>
            <a:off x="6204228" y="5942794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Integración — frontend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2" name="Google Shape;332;p1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27900" y="4909715"/>
            <a:ext cx="2706900" cy="660569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3" name="Google Shape;333;p15"/>
          <p:cNvSpPr/>
          <p:nvPr/>
        </p:nvSpPr>
        <p:spPr>
          <a:xfrm>
            <a:off x="9027900" y="5798416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Resumen general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9" name="Google Shape;339;p16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6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3 · PRUEBAS Y MÉTRICAS · CORRECCIÓN FINAL — EVIDENCIA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Evidencia: Resultado Final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2" name="Google Shape;34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460" y="1500000"/>
            <a:ext cx="1756379" cy="2080000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3" name="Google Shape;343;p16"/>
          <p:cNvSpPr/>
          <p:nvPr/>
        </p:nvSpPr>
        <p:spPr>
          <a:xfrm>
            <a:off x="457200" y="36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Unitarias — priceCalc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4" name="Google Shape;344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8383" y="1500000"/>
            <a:ext cx="1538333" cy="2080000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5" name="Google Shape;345;p16"/>
          <p:cNvSpPr/>
          <p:nvPr/>
        </p:nvSpPr>
        <p:spPr>
          <a:xfrm>
            <a:off x="3314100" y="36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Unitarias — chatbotLogic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6" name="Google Shape;346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1000" y="1638566"/>
            <a:ext cx="2706900" cy="1802868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7" name="Google Shape;347;p16"/>
          <p:cNvSpPr/>
          <p:nvPr/>
        </p:nvSpPr>
        <p:spPr>
          <a:xfrm>
            <a:off x="6171000" y="36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Unitarias — config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8" name="Google Shape;348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10049" y="1500000"/>
            <a:ext cx="2542602" cy="2080000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9" name="Google Shape;349;p16"/>
          <p:cNvSpPr/>
          <p:nvPr/>
        </p:nvSpPr>
        <p:spPr>
          <a:xfrm>
            <a:off x="9027900" y="36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0" name="Google Shape;350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" y="4383778"/>
            <a:ext cx="2706900" cy="1712444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1" name="Google Shape;351;p16"/>
          <p:cNvSpPr/>
          <p:nvPr/>
        </p:nvSpPr>
        <p:spPr>
          <a:xfrm>
            <a:off x="457200" y="63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2" name="Google Shape;352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14100" y="4540441"/>
            <a:ext cx="2706900" cy="1399118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3" name="Google Shape;353;p16"/>
          <p:cNvSpPr/>
          <p:nvPr/>
        </p:nvSpPr>
        <p:spPr>
          <a:xfrm>
            <a:off x="3314100" y="63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Integración — webhook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4" name="Google Shape;354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71000" y="4599609"/>
            <a:ext cx="2706900" cy="1280781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5" name="Google Shape;355;p16"/>
          <p:cNvSpPr/>
          <p:nvPr/>
        </p:nvSpPr>
        <p:spPr>
          <a:xfrm>
            <a:off x="6171000" y="63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Integración — frontend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6" name="Google Shape;356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27900" y="4799665"/>
            <a:ext cx="2706900" cy="880669"/>
          </a:xfrm>
          <a:prstGeom prst="rect">
            <a:avLst/>
          </a:prstGeom>
          <a:noFill/>
          <a:ln w="9525" cap="flat" cmpd="sng">
            <a:solidFill>
              <a:srgbClr val="D8DE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7" name="Google Shape;357;p16"/>
          <p:cNvSpPr/>
          <p:nvPr/>
        </p:nvSpPr>
        <p:spPr>
          <a:xfrm>
            <a:off x="9027900" y="6300000"/>
            <a:ext cx="27069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Resumen general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7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3" name="Google Shape;363;p17" descr="/home/claude/v1_extract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7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PARTE 3 · PRUEBAS Y MÉTRICAS · 2 DE 4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609600" y="609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66"/>
              <a:buFont typeface="Calibri"/>
              <a:buNone/>
            </a:pPr>
            <a:r>
              <a:rPr lang="en-US" sz="3466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Ejecución de Pruebas</a:t>
            </a:r>
            <a:endParaRPr sz="34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609600" y="1645920"/>
            <a:ext cx="3572256" cy="2133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609600" y="1828800"/>
            <a:ext cx="3572256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533"/>
              <a:buFont typeface="Calibri"/>
              <a:buNone/>
            </a:pPr>
            <a:r>
              <a:rPr lang="en-US" sz="4533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139</a:t>
            </a:r>
            <a:endParaRPr sz="4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792480" y="2865120"/>
            <a:ext cx="3206496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pruebas automatizadas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(suite Jest)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4328160" y="1645920"/>
            <a:ext cx="3572256" cy="2133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4328160" y="1828800"/>
            <a:ext cx="3572256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533"/>
              <a:buFont typeface="Calibri"/>
              <a:buNone/>
            </a:pPr>
            <a:r>
              <a:rPr lang="en-US" sz="4533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4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4511040" y="2865120"/>
            <a:ext cx="3206496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conversaciones simuladas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evaluadas con RAGAS (manual)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8046720" y="1645920"/>
            <a:ext cx="3572256" cy="2133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>
            <a:outerShdw blurRad="76200" dist="25400" dir="5400000" algn="bl" rotWithShape="0">
              <a:srgbClr val="1A1A1A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8046720" y="1828800"/>
            <a:ext cx="3572256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533"/>
              <a:buFont typeface="Calibri"/>
              <a:buNone/>
            </a:pPr>
            <a:r>
              <a:rPr lang="en-US" sz="4533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45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8229600" y="2865120"/>
            <a:ext cx="3206496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 éxito en todos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33"/>
              <a:buFont typeface="Calibri"/>
              <a:buNone/>
            </a:pPr>
            <a:r>
              <a:rPr lang="en-US" sz="1333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los niveles</a:t>
            </a:r>
            <a:endParaRPr sz="13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609600" y="4114800"/>
            <a:ext cx="109728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L" sz="13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La suite Jest cubre pruebas unitarias, de integración y funcionales de forma automatizada. La evaluación RAGAS se aplicó como metodología manual (sin el framework automatizado), sobre 40 conversaciones simuladas — incluyendo pruebas end-to-end de flujos completos de cotización (PM-01 a PM-04) — evaluando 3 criterios:</a:t>
            </a:r>
          </a:p>
          <a:p>
            <a:pPr marL="228600" marR="22860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Clr>
                <a:srgbClr val="1A5276"/>
              </a:buClr>
              <a:buChar char="•"/>
            </a:pPr>
            <a:r>
              <a:rPr lang="es-CL" sz="1200" b="1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Faithfulness (Fidelidad): </a:t>
            </a:r>
            <a:r>
              <a:rPr lang="es-CL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¿la respuesta se sostiene en datos reales del catálogo (precios, m², productos), sin alucinaciones ni información inventada?</a:t>
            </a:r>
            <a:r>
              <a:rPr lang="es-CL" sz="12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— Resultado: 40/40</a:t>
            </a:r>
          </a:p>
          <a:p>
            <a:pPr marL="228600" marR="22860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Clr>
                <a:srgbClr val="1A5276"/>
              </a:buClr>
              <a:buChar char="•"/>
            </a:pPr>
            <a:r>
              <a:rPr lang="es-CL" sz="1200" b="1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Context Relevancy (Relevancia de contexto): </a:t>
            </a:r>
            <a:r>
              <a:rPr lang="es-CL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¿el agente conserva y usa correctamente lo entregado en turnos anteriores (metraje, producto, decisión de instalación)?</a:t>
            </a:r>
            <a:r>
              <a:rPr lang="es-CL" sz="1200" b="1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 — Resultado: 40/40</a:t>
            </a:r>
          </a:p>
          <a:p>
            <a:pPr marL="228600" marR="22860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Clr>
                <a:srgbClr val="1A5276"/>
              </a:buClr>
              <a:buChar char="•"/>
            </a:pPr>
            <a:r>
              <a:rPr lang="es-CL" sz="1200" b="1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Answer Relevancy (Relevancia de respuesta): </a:t>
            </a:r>
            <a:r>
              <a:rPr lang="es-CL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¿la respuesta es directa y útil, sin desviarse del dominio de negocio — venta de pasto sintético — hacia temas ajenos?</a:t>
            </a:r>
            <a:r>
              <a:rPr lang="es-CL" sz="1200" b="1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 — Resultado: 39/40 → 40/40 (corregido)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1" name="Google Shape;381;p18" descr="/home/claude/check_layout/x/ppt/media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7024" y="219456"/>
            <a:ext cx="2133600" cy="78212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8"/>
          <p:cNvSpPr/>
          <p:nvPr/>
        </p:nvSpPr>
        <p:spPr>
          <a:xfrm>
            <a:off x="609600" y="195072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66"/>
              <a:buFont typeface="Calibri"/>
              <a:buNone/>
            </a:pPr>
            <a:r>
              <a:rPr lang="en-US" sz="1266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sz="1266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731520" y="6705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731520" y="1950720"/>
            <a:ext cx="73152" cy="914400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1036320" y="1889760"/>
            <a:ext cx="10424160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Problema resuelto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Trato Hecho digitaliza el proceso comercial completo, de la consulta al pago, reduciendo la demora de días a segundos.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731520" y="3084576"/>
            <a:ext cx="73152" cy="914400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1036320" y="3023616"/>
            <a:ext cx="10424160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Arquitectura sólida y auditada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Agente de IA con tool-use nativo, 7 vulnerabilidades encontradas y corregidas, desplegado en AWS EC2.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731520" y="4218432"/>
            <a:ext cx="73152" cy="914400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1036320" y="4157472"/>
            <a:ext cx="10424160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Validado con evidencia real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Pruebas funcionales, de seguridad y de rendimiento documentadas, no solo teóricas.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731520" y="5352288"/>
            <a:ext cx="73152" cy="914400"/>
          </a:xfrm>
          <a:prstGeom prst="rect">
            <a:avLst/>
          </a:prstGeom>
          <a:solidFill>
            <a:srgbClr val="1F5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1036320" y="5291328"/>
            <a:ext cx="10424160" cy="103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Aprendizaje del equipo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Integración de desarrollo, seguridad ofensiva y gestión de proyectos en un producto real, listo para un cliente real.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 [1782759497979]">
  <a:themeElements>
    <a:clrScheme name="Office">
      <a:dk1>
        <a:srgbClr val="1E293B"/>
      </a:dk1>
      <a:lt1>
        <a:srgbClr val="FFFFFF"/>
      </a:lt1>
      <a:dk2>
        <a:srgbClr val="2563EB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6366F1"/>
      </a:accent5>
      <a:accent6>
        <a:srgbClr val="64748B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1683</Words>
  <Application>Microsoft Office PowerPoint</Application>
  <PresentationFormat>Panorámica</PresentationFormat>
  <Paragraphs>205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Montserrat</vt:lpstr>
      <vt:lpstr>Arial</vt:lpstr>
      <vt:lpstr>Open Sans</vt:lpstr>
      <vt:lpstr>Calibri</vt:lpstr>
      <vt:lpstr>Tema de Office [1782759497979]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MANUEL GONZALO CARVAJAL CERDA</dc:creator>
  <cp:lastModifiedBy>CRISTOFER EDWARD SAN MARTIN CASTRO</cp:lastModifiedBy>
  <cp:revision>1</cp:revision>
  <dcterms:created xsi:type="dcterms:W3CDTF">2026-06-29T02:02:10Z</dcterms:created>
  <dcterms:modified xsi:type="dcterms:W3CDTF">2026-07-09T06:05:20Z</dcterms:modified>
</cp:coreProperties>
</file>